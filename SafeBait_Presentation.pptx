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90E0E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90E0EF"/>
                </a:solidFill>
                <a:latin typeface="Arial"/>
              </a:rPr>
              <a:t>Click Rate per Week (Declining = Success)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Click Rate %</c:v>
                </c:pt>
              </c:strCache>
            </c:strRef>
          </c:tx>
          <c:spPr>
            <a:solidFill>
              <a:srgbClr val="0096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Week 1</c:v>
                  </c:pt>
                  <c:pt idx="1">
                    <c:v>Week 2</c:v>
                  </c:pt>
                  <c:pt idx="2">
                    <c:v>Week 3</c:v>
                  </c:pt>
                  <c:pt idx="3">
                    <c:v>Week 4</c:v>
                  </c:pt>
                  <c:pt idx="4">
                    <c:v>Week 5</c:v>
                  </c:pt>
                  <c:pt idx="5">
                    <c:v>Week 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</c:v>
                </c:pt>
                <c:pt idx="1">
                  <c:v>39</c:v>
                </c:pt>
                <c:pt idx="2">
                  <c:v>36</c:v>
                </c:pt>
                <c:pt idx="3">
                  <c:v>31</c:v>
                </c:pt>
                <c:pt idx="4">
                  <c:v>27</c:v>
                </c:pt>
                <c:pt idx="5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3B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E4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3B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2E4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2-1.png"/><Relationship Id="rId3" Type="http://schemas.openxmlformats.org/officeDocument/2006/relationships/image" Target="../media/image-12-2.png"/><Relationship Id="rId4" Type="http://schemas.openxmlformats.org/officeDocument/2006/relationships/image" Target="../media/image-12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548640"/>
            <a:ext cx="2011680" cy="2011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73152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SafeBait</a:t>
            </a:r>
            <a:endParaRPr lang="en-US" sz="6200" dirty="0"/>
          </a:p>
        </p:txBody>
      </p:sp>
      <p:sp>
        <p:nvSpPr>
          <p:cNvPr id="5" name="Text 2"/>
          <p:cNvSpPr/>
          <p:nvPr/>
        </p:nvSpPr>
        <p:spPr>
          <a:xfrm>
            <a:off x="548640" y="18288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Simulation System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2423160"/>
            <a:ext cx="4114800" cy="36576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25603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university team project delivering controlled phishing simulations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educate users and reduce human-layer security vulnerabilities.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4251960"/>
            <a:ext cx="1554480" cy="347472"/>
          </a:xfrm>
          <a:prstGeom prst="rect">
            <a:avLst/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42519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231136" y="4251960"/>
            <a:ext cx="1554480" cy="347472"/>
          </a:xfrm>
          <a:prstGeom prst="rect">
            <a:avLst/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231136" y="42519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913632" y="4251960"/>
            <a:ext cx="1554480" cy="347472"/>
          </a:xfrm>
          <a:prstGeom prst="rect">
            <a:avLst/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13632" y="42519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596128" y="4251960"/>
            <a:ext cx="1554480" cy="347472"/>
          </a:xfrm>
          <a:prstGeom prst="rect">
            <a:avLst/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96128" y="42519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278624" y="4251960"/>
            <a:ext cx="1554480" cy="347472"/>
          </a:xfrm>
          <a:prstGeom prst="rect">
            <a:avLst/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78624" y="42519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71220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4892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Project  |  Computer Engineering  |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phishing awareness matters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560320" cy="2194560"/>
          </a:xfrm>
          <a:prstGeom prst="rect">
            <a:avLst/>
          </a:prstGeom>
          <a:solidFill>
            <a:srgbClr val="1A2E45"/>
          </a:solidFill>
          <a:ln w="1524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801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365760" y="22402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cyberattacks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1133856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39312" y="111556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Layer is Weakest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39312" y="1444752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defenses cannot fully substitute for user awareness. Attackers exploit trust, urgency, and unfamiliarity.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975104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39312" y="195681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is Often Passive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639312" y="228600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security awareness videos and quizzes fail to simulate the real-world pressure of a phishing attempt.</a:t>
            </a:r>
            <a:endParaRPr lang="en-US" sz="11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2816352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39312" y="2798064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 are Severe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639312" y="312724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breaches, credential theft, ransomware — phishing opens the door to all of them.</a:t>
            </a:r>
            <a:endParaRPr lang="en-US" sz="11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3657600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639312" y="363931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is Rising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3639312" y="3968496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attacks have grown exponentially with the rise of remote work and cloud services.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71220"/>
          </a:solidFill>
          <a:ln/>
        </p:spPr>
      </p:sp>
      <p:sp>
        <p:nvSpPr>
          <p:cNvPr id="21" name="Text 15"/>
          <p:cNvSpPr/>
          <p:nvPr/>
        </p:nvSpPr>
        <p:spPr>
          <a:xfrm>
            <a:off x="457200" y="4892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SafeBait addresses this gap through experiential, simulation-based learning.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SafeBait?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definition &amp; core concept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SafeBait is a controlled phishing simulation and awareness platform. It sends realistic, fake phishing emails to participants (with consent), tracks who clicks, and immediately delivers targeted educational content — turning a near-miss into a learning moment.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1965960" cy="2331720"/>
          </a:xfrm>
          <a:prstGeom prst="rect">
            <a:avLst/>
          </a:prstGeom>
          <a:solidFill>
            <a:srgbClr val="1A2E45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331720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29260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333756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realistic phishing emails using real social engineering tactics.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468880" y="2194560"/>
            <a:ext cx="1965960" cy="2331720"/>
          </a:xfrm>
          <a:prstGeom prst="rect">
            <a:avLst/>
          </a:prstGeom>
          <a:solidFill>
            <a:srgbClr val="1A2E45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2331720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68880" y="29260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560320" y="333756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victims to an interactive awareness page explaining the attack.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0" y="2194560"/>
            <a:ext cx="1965960" cy="2331720"/>
          </a:xfrm>
          <a:prstGeom prst="rect">
            <a:avLst/>
          </a:prstGeom>
          <a:solidFill>
            <a:srgbClr val="1A2E45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8" y="2331720"/>
            <a:ext cx="475488" cy="4754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72000" y="29260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663440" y="333756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click-through data on a live campaign dashboard.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675120" y="2194560"/>
            <a:ext cx="1965960" cy="2331720"/>
          </a:xfrm>
          <a:prstGeom prst="rect">
            <a:avLst/>
          </a:prstGeom>
          <a:solidFill>
            <a:srgbClr val="1A2E45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928" y="2331720"/>
            <a:ext cx="475488" cy="4754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675120" y="29260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766560" y="333756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genuine user resilience through hands-on experience.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71220"/>
          </a:solidFill>
          <a:ln/>
        </p:spPr>
      </p:sp>
      <p:sp>
        <p:nvSpPr>
          <p:cNvPr id="23" name="Text 17"/>
          <p:cNvSpPr/>
          <p:nvPr/>
        </p:nvSpPr>
        <p:spPr>
          <a:xfrm>
            <a:off x="457200" y="4892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not to catch people — it's to teach them.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Goals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SafeBait aims to achieve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ect">
            <a:avLst/>
          </a:prstGeom>
          <a:solidFill>
            <a:srgbClr val="1A2E45"/>
          </a:solidFill>
          <a:ln w="762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457200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9728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26187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15214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Phishing Awareness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371600" y="144475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users recognize common phishing indicators: spoofed domains, urgent language, suspicious links, and misleading sender names.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1847088"/>
            <a:ext cx="8412480" cy="658368"/>
          </a:xfrm>
          <a:prstGeom prst="rect">
            <a:avLst/>
          </a:prstGeom>
          <a:solidFill>
            <a:srgbClr val="1A2E45"/>
          </a:solidFill>
          <a:ln w="762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1847088"/>
            <a:ext cx="457200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184708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011680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71600" y="19019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Immediate Feedback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371600" y="21945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post-hoc training, deliver education at the exact moment a user falls for a simulated attack — maximum relevance.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65760" y="2596896"/>
            <a:ext cx="8412480" cy="658368"/>
          </a:xfrm>
          <a:prstGeom prst="rect">
            <a:avLst/>
          </a:prstGeom>
          <a:solidFill>
            <a:srgbClr val="1A2E45"/>
          </a:solidFill>
          <a:ln w="762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65760" y="2596896"/>
            <a:ext cx="457200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5"/>
          <p:cNvSpPr/>
          <p:nvPr/>
        </p:nvSpPr>
        <p:spPr>
          <a:xfrm>
            <a:off x="365760" y="259689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761488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71600" y="2651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Organizational Risk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371600" y="29443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click-through rates and behavior patterns per group or campaign to surface the highest-risk segments.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365760" y="3346704"/>
            <a:ext cx="8412480" cy="658368"/>
          </a:xfrm>
          <a:prstGeom prst="rect">
            <a:avLst/>
          </a:prstGeom>
          <a:solidFill>
            <a:srgbClr val="1A2E45"/>
          </a:solidFill>
          <a:ln w="762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65760" y="3346704"/>
            <a:ext cx="457200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20"/>
          <p:cNvSpPr/>
          <p:nvPr/>
        </p:nvSpPr>
        <p:spPr>
          <a:xfrm>
            <a:off x="365760" y="334670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511296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371600" y="34015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Behavioral Change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1371600" y="369417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repeated exposure and education, shift user behavior from reactive to proactive — cultivating a security-first mindset.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365760" y="4096512"/>
            <a:ext cx="8412480" cy="658368"/>
          </a:xfrm>
          <a:prstGeom prst="rect">
            <a:avLst/>
          </a:prstGeom>
          <a:solidFill>
            <a:srgbClr val="1A2E45"/>
          </a:solidFill>
          <a:ln w="762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65760" y="4096512"/>
            <a:ext cx="457200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1" name="Text 25"/>
          <p:cNvSpPr/>
          <p:nvPr/>
        </p:nvSpPr>
        <p:spPr>
          <a:xfrm>
            <a:off x="365760" y="409651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261104"/>
            <a:ext cx="329184" cy="32918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371600" y="41513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Research &amp; Reporting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1371600" y="444398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structured data for academic analysis, institutional reporting, and continuous improvement of training strategies.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 vs out of scope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023360" cy="3840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IN SCOPE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4023360" cy="365760"/>
          </a:xfrm>
          <a:prstGeom prst="rect">
            <a:avLst/>
          </a:prstGeom>
          <a:solidFill>
            <a:srgbClr val="1A2E45"/>
          </a:solidFill>
          <a:ln w="5080">
            <a:solidFill>
              <a:srgbClr val="00B4D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3619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1536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 simulation (consent-based)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1929384"/>
            <a:ext cx="4023360" cy="365760"/>
          </a:xfrm>
          <a:prstGeom prst="rect">
            <a:avLst/>
          </a:prstGeom>
          <a:solidFill>
            <a:srgbClr val="0D1B2A"/>
          </a:solidFill>
          <a:ln w="5080">
            <a:solidFill>
              <a:srgbClr val="00B4D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5681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41248" y="19568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Click-tracking via unique per-user links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65760" y="2350008"/>
            <a:ext cx="4023360" cy="365760"/>
          </a:xfrm>
          <a:prstGeom prst="rect">
            <a:avLst/>
          </a:prstGeom>
          <a:solidFill>
            <a:srgbClr val="1A2E45"/>
          </a:solidFill>
          <a:ln w="5080">
            <a:solidFill>
              <a:srgbClr val="00B4D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377440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1248" y="2377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landing page (post-click)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65760" y="2770632"/>
            <a:ext cx="4023360" cy="365760"/>
          </a:xfrm>
          <a:prstGeom prst="rect">
            <a:avLst/>
          </a:prstGeom>
          <a:solidFill>
            <a:srgbClr val="0D1B2A"/>
          </a:solidFill>
          <a:ln w="5080">
            <a:solidFill>
              <a:srgbClr val="00B4D8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798064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41248" y="27980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management dashboard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365760" y="3191256"/>
            <a:ext cx="4023360" cy="365760"/>
          </a:xfrm>
          <a:prstGeom prst="rect">
            <a:avLst/>
          </a:prstGeom>
          <a:solidFill>
            <a:srgbClr val="1A2E45"/>
          </a:solidFill>
          <a:ln w="5080">
            <a:solidFill>
              <a:srgbClr val="00B4D8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218688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41248" y="32186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localStorage-based data persistence (no backend)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365760" y="3611880"/>
            <a:ext cx="4023360" cy="365760"/>
          </a:xfrm>
          <a:prstGeom prst="rect">
            <a:avLst/>
          </a:prstGeom>
          <a:solidFill>
            <a:srgbClr val="0D1B2A"/>
          </a:solidFill>
          <a:ln w="5080">
            <a:solidFill>
              <a:srgbClr val="00B4D8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639312"/>
            <a:ext cx="256032" cy="25603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41248" y="36393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Group-based targeting &amp; reporting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365760" y="4032504"/>
            <a:ext cx="4023360" cy="365760"/>
          </a:xfrm>
          <a:prstGeom prst="rect">
            <a:avLst/>
          </a:prstGeom>
          <a:solidFill>
            <a:srgbClr val="1A2E45"/>
          </a:solidFill>
          <a:ln w="5080">
            <a:solidFill>
              <a:srgbClr val="00B4D8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059936"/>
            <a:ext cx="256032" cy="25603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841248" y="40599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phishing awareness quiz</a:t>
            </a:r>
            <a:endParaRPr lang="en-US" sz="1100" dirty="0"/>
          </a:p>
        </p:txBody>
      </p:sp>
      <p:sp>
        <p:nvSpPr>
          <p:cNvPr id="28" name="Shape 19"/>
          <p:cNvSpPr/>
          <p:nvPr/>
        </p:nvSpPr>
        <p:spPr>
          <a:xfrm>
            <a:off x="4754880" y="1051560"/>
            <a:ext cx="4023360" cy="384048"/>
          </a:xfrm>
          <a:prstGeom prst="rect">
            <a:avLst/>
          </a:prstGeom>
          <a:solidFill>
            <a:srgbClr val="1A2E45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29" name="Text 20"/>
          <p:cNvSpPr/>
          <p:nvPr/>
        </p:nvSpPr>
        <p:spPr>
          <a:xfrm>
            <a:off x="4754880" y="10515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OUT OF SCOPE</a:t>
            </a:r>
            <a:endParaRPr lang="en-US" sz="1400" dirty="0"/>
          </a:p>
        </p:txBody>
      </p:sp>
      <p:sp>
        <p:nvSpPr>
          <p:cNvPr id="30" name="Shape 21"/>
          <p:cNvSpPr/>
          <p:nvPr/>
        </p:nvSpPr>
        <p:spPr>
          <a:xfrm>
            <a:off x="4754880" y="1508760"/>
            <a:ext cx="4023360" cy="365760"/>
          </a:xfrm>
          <a:prstGeom prst="rect">
            <a:avLst/>
          </a:prstGeom>
          <a:solidFill>
            <a:srgbClr val="1A2E45"/>
          </a:solidFill>
          <a:ln w="5080">
            <a:solidFill>
              <a:srgbClr val="F4A261"/>
            </a:solidFill>
            <a:prstDash val="solid"/>
          </a:ln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1536192"/>
            <a:ext cx="256032" cy="256032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230368" y="1536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malicious phishing attacks</a:t>
            </a:r>
            <a:endParaRPr lang="en-US" sz="1100" dirty="0"/>
          </a:p>
        </p:txBody>
      </p:sp>
      <p:sp>
        <p:nvSpPr>
          <p:cNvPr id="33" name="Shape 23"/>
          <p:cNvSpPr/>
          <p:nvPr/>
        </p:nvSpPr>
        <p:spPr>
          <a:xfrm>
            <a:off x="4754880" y="1929384"/>
            <a:ext cx="4023360" cy="365760"/>
          </a:xfrm>
          <a:prstGeom prst="rect">
            <a:avLst/>
          </a:prstGeom>
          <a:solidFill>
            <a:srgbClr val="0D1B2A"/>
          </a:solidFill>
          <a:ln w="5080">
            <a:solidFill>
              <a:srgbClr val="F4A261"/>
            </a:solidFill>
            <a:prstDash val="solid"/>
          </a:ln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2040" y="1956816"/>
            <a:ext cx="256032" cy="256032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5230368" y="19568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backend / database</a:t>
            </a:r>
            <a:endParaRPr lang="en-US" sz="1100" dirty="0"/>
          </a:p>
        </p:txBody>
      </p:sp>
      <p:sp>
        <p:nvSpPr>
          <p:cNvPr id="36" name="Shape 25"/>
          <p:cNvSpPr/>
          <p:nvPr/>
        </p:nvSpPr>
        <p:spPr>
          <a:xfrm>
            <a:off x="4754880" y="2350008"/>
            <a:ext cx="4023360" cy="365760"/>
          </a:xfrm>
          <a:prstGeom prst="rect">
            <a:avLst/>
          </a:prstGeom>
          <a:solidFill>
            <a:srgbClr val="1A2E45"/>
          </a:solidFill>
          <a:ln w="5080">
            <a:solidFill>
              <a:srgbClr val="F4A261"/>
            </a:solidFill>
            <a:prstDash val="solid"/>
          </a:ln>
        </p:spPr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92040" y="2377440"/>
            <a:ext cx="256032" cy="256032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5230368" y="2377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sending infrastructure</a:t>
            </a:r>
            <a:endParaRPr lang="en-US" sz="1100" dirty="0"/>
          </a:p>
        </p:txBody>
      </p:sp>
      <p:sp>
        <p:nvSpPr>
          <p:cNvPr id="39" name="Shape 27"/>
          <p:cNvSpPr/>
          <p:nvPr/>
        </p:nvSpPr>
        <p:spPr>
          <a:xfrm>
            <a:off x="4754880" y="2770632"/>
            <a:ext cx="4023360" cy="365760"/>
          </a:xfrm>
          <a:prstGeom prst="rect">
            <a:avLst/>
          </a:prstGeom>
          <a:solidFill>
            <a:srgbClr val="0D1B2A"/>
          </a:solidFill>
          <a:ln w="5080">
            <a:solidFill>
              <a:srgbClr val="F4A261"/>
            </a:solidFill>
            <a:prstDash val="solid"/>
          </a:ln>
        </p:spPr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92040" y="2798064"/>
            <a:ext cx="256032" cy="256032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5230368" y="27980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authentication</a:t>
            </a:r>
            <a:endParaRPr lang="en-US" sz="1100" dirty="0"/>
          </a:p>
        </p:txBody>
      </p:sp>
      <p:sp>
        <p:nvSpPr>
          <p:cNvPr id="42" name="Shape 29"/>
          <p:cNvSpPr/>
          <p:nvPr/>
        </p:nvSpPr>
        <p:spPr>
          <a:xfrm>
            <a:off x="4754880" y="3191256"/>
            <a:ext cx="4023360" cy="365760"/>
          </a:xfrm>
          <a:prstGeom prst="rect">
            <a:avLst/>
          </a:prstGeom>
          <a:solidFill>
            <a:srgbClr val="1A2E45"/>
          </a:solidFill>
          <a:ln w="5080">
            <a:solidFill>
              <a:srgbClr val="F4A261"/>
            </a:solidFill>
            <a:prstDash val="solid"/>
          </a:ln>
        </p:spPr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92040" y="3218688"/>
            <a:ext cx="256032" cy="256032"/>
          </a:xfrm>
          <a:prstGeom prst="rect">
            <a:avLst/>
          </a:prstGeom>
        </p:spPr>
      </p:pic>
      <p:sp>
        <p:nvSpPr>
          <p:cNvPr id="44" name="Text 30"/>
          <p:cNvSpPr/>
          <p:nvPr/>
        </p:nvSpPr>
        <p:spPr>
          <a:xfrm>
            <a:off x="5230368" y="32186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 to the public internet</a:t>
            </a:r>
            <a:endParaRPr lang="en-US" sz="1100" dirty="0"/>
          </a:p>
        </p:txBody>
      </p:sp>
      <p:sp>
        <p:nvSpPr>
          <p:cNvPr id="45" name="Shape 3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71220"/>
          </a:solidFill>
          <a:ln/>
        </p:spPr>
      </p:sp>
      <p:sp>
        <p:nvSpPr>
          <p:cNvPr id="46" name="Text 32"/>
          <p:cNvSpPr/>
          <p:nvPr/>
        </p:nvSpPr>
        <p:spPr>
          <a:xfrm>
            <a:off x="457200" y="4892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SafeBait is an academic simulation platform — not a live attack tool.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components fit together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011680" cy="1188720"/>
          </a:xfrm>
          <a:prstGeom prst="rect">
            <a:avLst/>
          </a:prstGeom>
          <a:solidFill>
            <a:srgbClr val="1A2E45"/>
          </a:solidFill>
          <a:ln w="889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2070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3816" y="1188720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Module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1609344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phishing emails with unique tracking links per recipient.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606040" y="1097280"/>
            <a:ext cx="2011680" cy="1188720"/>
          </a:xfrm>
          <a:prstGeom prst="rect">
            <a:avLst/>
          </a:prstGeom>
          <a:solidFill>
            <a:srgbClr val="1A2E45"/>
          </a:solidFill>
          <a:ln w="889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768" y="120700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099816" y="1188720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Layer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2697480" y="1609344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parameters encode user ID &amp; campaign ID to log click events.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892040" y="1097280"/>
            <a:ext cx="2011680" cy="1188720"/>
          </a:xfrm>
          <a:prstGeom prst="rect">
            <a:avLst/>
          </a:prstGeom>
          <a:solidFill>
            <a:srgbClr val="1A2E45"/>
          </a:solidFill>
          <a:ln w="889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768" y="1207008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85816" y="1188720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983480" y="1609344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Post-click educational HTML page with awareness tips and quiz.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7178040" y="1097280"/>
            <a:ext cx="1600200" cy="1188720"/>
          </a:xfrm>
          <a:prstGeom prst="rect">
            <a:avLst/>
          </a:prstGeom>
          <a:solidFill>
            <a:srgbClr val="1A2E45"/>
          </a:solidFill>
          <a:ln w="889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7768" y="1207008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671816" y="1188720"/>
            <a:ext cx="1033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7269480" y="1609344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persists click data without a backend server.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320040" y="2560320"/>
            <a:ext cx="2011680" cy="1188720"/>
          </a:xfrm>
          <a:prstGeom prst="rect">
            <a:avLst/>
          </a:prstGeom>
          <a:solidFill>
            <a:srgbClr val="1A2E45"/>
          </a:solidFill>
          <a:ln w="889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2670048"/>
            <a:ext cx="329184" cy="32918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13816" y="2651760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411480" y="3072384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overview: total sends, clicks, click rate per group.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2606040" y="2560320"/>
            <a:ext cx="2011680" cy="1188720"/>
          </a:xfrm>
          <a:prstGeom prst="rect">
            <a:avLst/>
          </a:prstGeom>
          <a:solidFill>
            <a:srgbClr val="1A2E45"/>
          </a:solidFill>
          <a:ln w="889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5768" y="2670048"/>
            <a:ext cx="329184" cy="32918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099816" y="2651760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Module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2697480" y="3072384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attack anatomy, red flags, and safe browsing practices.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4892040" y="2560320"/>
            <a:ext cx="2011680" cy="1188720"/>
          </a:xfrm>
          <a:prstGeom prst="rect">
            <a:avLst/>
          </a:prstGeom>
          <a:solidFill>
            <a:srgbClr val="1A2E45"/>
          </a:solidFill>
          <a:ln w="889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1768" y="2670048"/>
            <a:ext cx="329184" cy="32918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385816" y="2651760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Mgr</a:t>
            </a:r>
            <a:endParaRPr lang="en-US" sz="1100" dirty="0"/>
          </a:p>
        </p:txBody>
      </p:sp>
      <p:sp>
        <p:nvSpPr>
          <p:cNvPr id="32" name="Text 23"/>
          <p:cNvSpPr/>
          <p:nvPr/>
        </p:nvSpPr>
        <p:spPr>
          <a:xfrm>
            <a:off x="4983480" y="3072384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assign, and monitor multiple phishing campaigns.</a:t>
            </a:r>
            <a:endParaRPr lang="en-US" sz="1000" dirty="0"/>
          </a:p>
        </p:txBody>
      </p:sp>
      <p:sp>
        <p:nvSpPr>
          <p:cNvPr id="33" name="Shape 24"/>
          <p:cNvSpPr/>
          <p:nvPr/>
        </p:nvSpPr>
        <p:spPr>
          <a:xfrm>
            <a:off x="7178040" y="2560320"/>
            <a:ext cx="1600200" cy="1188720"/>
          </a:xfrm>
          <a:prstGeom prst="rect">
            <a:avLst/>
          </a:prstGeom>
          <a:solidFill>
            <a:srgbClr val="1A2E45"/>
          </a:solidFill>
          <a:ln w="889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87768" y="2670048"/>
            <a:ext cx="329184" cy="329184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671816" y="2651760"/>
            <a:ext cx="1033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Groups</a:t>
            </a:r>
            <a:endParaRPr lang="en-US" sz="1100" dirty="0"/>
          </a:p>
        </p:txBody>
      </p:sp>
      <p:sp>
        <p:nvSpPr>
          <p:cNvPr id="36" name="Text 26"/>
          <p:cNvSpPr/>
          <p:nvPr/>
        </p:nvSpPr>
        <p:spPr>
          <a:xfrm>
            <a:off x="7269480" y="3072384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targets by department, role, or risk profile.</a:t>
            </a:r>
            <a:endParaRPr lang="en-US" sz="1000" dirty="0"/>
          </a:p>
        </p:txBody>
      </p:sp>
      <p:sp>
        <p:nvSpPr>
          <p:cNvPr id="37" name="Shape 27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71220"/>
          </a:solidFill>
          <a:ln/>
        </p:spPr>
      </p:sp>
      <p:sp>
        <p:nvSpPr>
          <p:cNvPr id="38" name="Text 28"/>
          <p:cNvSpPr/>
          <p:nvPr/>
        </p:nvSpPr>
        <p:spPr>
          <a:xfrm>
            <a:off x="457200" y="4892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modules are frontend-only — deployed as a single-page application.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simulation flow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97480" cy="1691640"/>
          </a:xfrm>
          <a:prstGeom prst="rect">
            <a:avLst/>
          </a:prstGeom>
          <a:solidFill>
            <a:srgbClr val="1A2E45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502920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86968" y="1152144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Setup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627632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configures a phishing campaign: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target group, email template,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campaign name.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697480" cy="1691640"/>
          </a:xfrm>
          <a:prstGeom prst="rect">
            <a:avLst/>
          </a:prstGeom>
          <a:solidFill>
            <a:srgbClr val="1A2E45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97280"/>
            <a:ext cx="502920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67328" y="1152144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Delivery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1627632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phishing emails are sent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unique tracking URLs embedded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buttons or hyperlinks.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1097280"/>
            <a:ext cx="2697480" cy="1691640"/>
          </a:xfrm>
          <a:prstGeom prst="rect">
            <a:avLst/>
          </a:prstGeom>
          <a:solidFill>
            <a:srgbClr val="1A2E45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097280"/>
            <a:ext cx="502920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608076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47688" y="1152144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Link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1627632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 clicks the suspicious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link, believing it to be legitimate.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971800"/>
            <a:ext cx="2697480" cy="1691640"/>
          </a:xfrm>
          <a:prstGeom prst="rect">
            <a:avLst/>
          </a:prstGeom>
          <a:solidFill>
            <a:srgbClr val="1A2E45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971800"/>
            <a:ext cx="502920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86968" y="3026664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Logged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3502152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tracking URL captures the click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and stores it in localStorage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timestamp and user ID.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2971800"/>
            <a:ext cx="2697480" cy="1691640"/>
          </a:xfrm>
          <a:prstGeom prst="rect">
            <a:avLst/>
          </a:prstGeom>
          <a:solidFill>
            <a:srgbClr val="1A2E45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971800"/>
            <a:ext cx="502920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767328" y="3026664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Redirect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91840" y="3502152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is immediately redirected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SafeBait's educational landing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— learning in the moment.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80760" y="2971800"/>
            <a:ext cx="2697480" cy="1691640"/>
          </a:xfrm>
          <a:prstGeom prst="rect">
            <a:avLst/>
          </a:prstGeom>
          <a:solidFill>
            <a:srgbClr val="1A2E45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0760" y="2971800"/>
            <a:ext cx="502920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2" name="Text 30"/>
          <p:cNvSpPr/>
          <p:nvPr/>
        </p:nvSpPr>
        <p:spPr>
          <a:xfrm>
            <a:off x="608076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647688" y="3026664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Update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72200" y="3502152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reflects the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click, updating statistics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risk metrics in real time.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3: Education &amp; Landing Site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team's role in the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 owns the post-click experience — the moment a user clicks a phishing link and receives immediate, impactful education. This is the core learning touchpoint of SafeBait.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965960"/>
            <a:ext cx="4023360" cy="1188720"/>
          </a:xfrm>
          <a:prstGeom prst="rect">
            <a:avLst/>
          </a:prstGeom>
          <a:solidFill>
            <a:srgbClr val="1A2E45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1031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20574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Landing Page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251460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single-file HTML/CSS/JS phishing awareness demo. Responsive, mobile-friendly, and self-contained. No external dependencies.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3337560"/>
            <a:ext cx="4023360" cy="1188720"/>
          </a:xfrm>
          <a:prstGeom prst="rect">
            <a:avLst/>
          </a:prstGeom>
          <a:solidFill>
            <a:srgbClr val="1A2E45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4747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0120" y="34290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Content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02920" y="388620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what phishing is, how to recognize it, and what to do next. Covers social engineering tactics and red flags.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709160" y="1965960"/>
            <a:ext cx="4023360" cy="1188720"/>
          </a:xfrm>
          <a:prstGeom prst="rect">
            <a:avLst/>
          </a:prstGeom>
          <a:solidFill>
            <a:srgbClr val="1A2E45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1031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03520" y="20574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Post-Click Quiz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846320" y="251460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quiz reinforces learning immediately after the simulated click. Measures comprehension and retention.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709160" y="3337560"/>
            <a:ext cx="4023360" cy="1188720"/>
          </a:xfrm>
          <a:prstGeom prst="rect">
            <a:avLst/>
          </a:prstGeom>
          <a:solidFill>
            <a:srgbClr val="1A2E45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47472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03520" y="34290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Integration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846320" y="388620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architecture connects the landing page to the campaign dashboard — click events are stored and surfaced in the admin view.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71220"/>
          </a:solidFill>
          <a:ln/>
        </p:spPr>
      </p:sp>
      <p:sp>
        <p:nvSpPr>
          <p:cNvPr id="23" name="Text 17"/>
          <p:cNvSpPr/>
          <p:nvPr/>
        </p:nvSpPr>
        <p:spPr>
          <a:xfrm>
            <a:off x="457200" y="4892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UX / Frontend Developer  |  Owner of post-click user experience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tools used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023360" cy="40233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536192"/>
            <a:ext cx="4023360" cy="713232"/>
          </a:xfrm>
          <a:prstGeom prst="rect">
            <a:avLst/>
          </a:prstGeom>
          <a:solidFill>
            <a:srgbClr val="1A2E45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5910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" y="188366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markup, responsive layout using Flexbox and Grid.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22576"/>
            <a:ext cx="4023360" cy="713232"/>
          </a:xfrm>
          <a:prstGeom prst="rect">
            <a:avLst/>
          </a:prstGeom>
          <a:solidFill>
            <a:srgbClr val="1A2E45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2377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JavaScript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" y="26700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framework dependencies — all interactivity in pure JS.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108960"/>
            <a:ext cx="4023360" cy="713232"/>
          </a:xfrm>
          <a:prstGeom prst="rect">
            <a:avLst/>
          </a:prstGeom>
          <a:solidFill>
            <a:srgbClr val="1A2E45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" y="31638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API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" y="345643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client-side data store for click events and user state.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895344"/>
            <a:ext cx="4023360" cy="713232"/>
          </a:xfrm>
          <a:prstGeom prst="rect">
            <a:avLst/>
          </a:prstGeom>
          <a:solidFill>
            <a:srgbClr val="1A2E45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39502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Architecture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" y="424281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UI in one .html file for portability and simplicity.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1051560"/>
            <a:ext cx="4023360" cy="40233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4709160" y="105156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Collaboration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09160" y="1536192"/>
            <a:ext cx="4023360" cy="713232"/>
          </a:xfrm>
          <a:prstGeom prst="rect">
            <a:avLst/>
          </a:prstGeom>
          <a:solidFill>
            <a:srgbClr val="1A2E45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37176" y="15910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/ github.dev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37176" y="188366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and browser-based code editing for team collaboration.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2322576"/>
            <a:ext cx="4023360" cy="713232"/>
          </a:xfrm>
          <a:prstGeom prst="rect">
            <a:avLst/>
          </a:prstGeom>
          <a:solidFill>
            <a:srgbClr val="1A2E45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37176" y="2377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37176" y="26700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site hosting for shareable demo deployments.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3108960"/>
            <a:ext cx="4023360" cy="713232"/>
          </a:xfrm>
          <a:prstGeom prst="rect">
            <a:avLst/>
          </a:prstGeom>
          <a:solidFill>
            <a:srgbClr val="1A2E45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37176" y="31638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37176" y="345643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development environment for HTML/CSS/JS editing.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3895344"/>
            <a:ext cx="4023360" cy="713232"/>
          </a:xfrm>
          <a:prstGeom prst="rect">
            <a:avLst/>
          </a:prstGeom>
          <a:solidFill>
            <a:srgbClr val="1A2E45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37176" y="39502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Parameters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37176" y="424281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strings encode campaign and user ID for click tracking.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71220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892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backend required — fully deployable as a static site.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&amp; Storage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click data moves through the system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1371600" cy="822960"/>
          </a:xfrm>
          <a:prstGeom prst="rect">
            <a:avLst/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4630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Link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0" y="1810512"/>
            <a:ext cx="274320" cy="12801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1920240" y="1463040"/>
            <a:ext cx="1371600" cy="822960"/>
          </a:xfrm>
          <a:prstGeom prst="rect">
            <a:avLst/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20240" y="14630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Params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810512"/>
            <a:ext cx="274320" cy="12801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Shape 9"/>
          <p:cNvSpPr/>
          <p:nvPr/>
        </p:nvSpPr>
        <p:spPr>
          <a:xfrm>
            <a:off x="3566160" y="1463040"/>
            <a:ext cx="1371600" cy="822960"/>
          </a:xfrm>
          <a:prstGeom prst="rect">
            <a:avLst/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66160" y="14630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1810512"/>
            <a:ext cx="274320" cy="12801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Shape 12"/>
          <p:cNvSpPr/>
          <p:nvPr/>
        </p:nvSpPr>
        <p:spPr>
          <a:xfrm>
            <a:off x="5212080" y="1463040"/>
            <a:ext cx="1463040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12080" y="14630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75120" y="1810512"/>
            <a:ext cx="274320" cy="12801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Shape 15"/>
          <p:cNvSpPr/>
          <p:nvPr/>
        </p:nvSpPr>
        <p:spPr>
          <a:xfrm>
            <a:off x="6949440" y="1463040"/>
            <a:ext cx="1737360" cy="822960"/>
          </a:xfrm>
          <a:prstGeom prst="rect">
            <a:avLst/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49440" y="14630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Data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26060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Schema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2999232"/>
            <a:ext cx="3931920" cy="1600200"/>
          </a:xfrm>
          <a:prstGeom prst="rect">
            <a:avLst/>
          </a:prstGeom>
          <a:solidFill>
            <a:srgbClr val="071220"/>
          </a:solidFill>
          <a:ln w="762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090672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"campaignId": "camp_01",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"userId": "user_abc",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"timestamp": "2025-04-10T14:32:00Z",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"clickedLink": true,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"quizScore": 4 }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26060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Architectural Points</a:t>
            </a:r>
            <a:endParaRPr lang="en-US" sz="14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3017520"/>
            <a:ext cx="228600" cy="2286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956048" y="3017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click event is keyed by userId + campaignId</a:t>
            </a:r>
            <a:endParaRPr lang="en-US" sz="11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3364992"/>
            <a:ext cx="228600" cy="2286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956048" y="33649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persists across browser sessions</a:t>
            </a:r>
            <a:endParaRPr lang="en-US" sz="11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3712464"/>
            <a:ext cx="228600" cy="2286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4956048" y="37124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reads all keys matching campaign prefix</a:t>
            </a:r>
            <a:endParaRPr lang="en-US" sz="11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4059936"/>
            <a:ext cx="228600" cy="2286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956048" y="40599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required — fully client-side</a:t>
            </a:r>
            <a:endParaRPr lang="en-US" sz="11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4407408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956048" y="44074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reset or export for analysis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Landing Page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 of Group 3's contribution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user clicks a phishing link, they land here. The page's design is intentional: it doesn't shame the user — it empowers them.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4114800" cy="2880360"/>
          </a:xfrm>
          <a:prstGeom prst="rect">
            <a:avLst/>
          </a:prstGeom>
          <a:solidFill>
            <a:srgbClr val="071220"/>
          </a:solidFill>
          <a:ln w="1524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91640"/>
            <a:ext cx="4114800" cy="29260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7099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safebait.edu/learn?uid=xxx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984248"/>
            <a:ext cx="4114800" cy="4572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9842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You clicked a simulated phishing link!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560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gave it away?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8346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Spoofed sender domain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1089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Urgent call-to-action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3832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Suspicious link URL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6576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749040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9319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awareness quiz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206240"/>
            <a:ext cx="3749040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2062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more about phishing</a:t>
            </a:r>
            <a:endParaRPr lang="en-US" sz="10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719072"/>
            <a:ext cx="292608" cy="29260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166360" y="17007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Confrontation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166360" y="19933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is told clearly they clicked a phishing link — no delayed notification.</a:t>
            </a:r>
            <a:endParaRPr lang="en-US" sz="11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286000"/>
            <a:ext cx="292608" cy="29260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166360" y="22677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Anatomy Breakdown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5166360" y="256032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explanation of the specific tactics used in this email.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852928"/>
            <a:ext cx="292608" cy="29260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166360" y="2834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Quiz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5166360" y="312724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5-question quiz with instant feedback to test and reinforce knowledge.</a:t>
            </a:r>
            <a:endParaRPr lang="en-US" sz="11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419856"/>
            <a:ext cx="292608" cy="29260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166360" y="34015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Guide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5166360" y="369417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if you click a real phishing link: who to call, how to report.</a:t>
            </a:r>
            <a:endParaRPr lang="en-US" sz="11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3986784"/>
            <a:ext cx="292608" cy="29260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166360" y="39684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Responsive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5166360" y="42611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usable on phone screens — where many phishing clicks happen.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Dashboard &amp; Metrics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awareness progress over time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920240" cy="960120"/>
          </a:xfrm>
          <a:prstGeom prst="rect">
            <a:avLst/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430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17190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Sends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097280"/>
            <a:ext cx="1920240" cy="960120"/>
          </a:xfrm>
          <a:prstGeom prst="rect">
            <a:avLst/>
          </a:prstGeom>
          <a:solidFill>
            <a:srgbClr val="1A2E45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1430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468880" y="17190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Clicks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1920240" cy="960120"/>
          </a:xfrm>
          <a:prstGeom prst="rect">
            <a:avLst/>
          </a:prstGeom>
          <a:solidFill>
            <a:srgbClr val="1A2E45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1430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572000" y="17190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Rate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097280"/>
            <a:ext cx="1920240" cy="960120"/>
          </a:xfrm>
          <a:prstGeom prst="rect">
            <a:avLst/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0" y="11430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675120" y="17190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Completions</a:t>
            </a:r>
            <a:endParaRPr lang="en-US" sz="11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365760" y="2240280"/>
          <a:ext cx="50292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5577840" y="2240280"/>
            <a:ext cx="3200400" cy="749808"/>
          </a:xfrm>
          <a:prstGeom prst="rect">
            <a:avLst/>
          </a:prstGeom>
          <a:solidFill>
            <a:srgbClr val="1A2E45"/>
          </a:solidFill>
          <a:ln w="762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568" y="2441448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035040" y="22951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Downward Trend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035040" y="258775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rate decreases each week as users become better at identifying phishing attempts.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577840" y="3063240"/>
            <a:ext cx="3200400" cy="749808"/>
          </a:xfrm>
          <a:prstGeom prst="rect">
            <a:avLst/>
          </a:prstGeom>
          <a:solidFill>
            <a:srgbClr val="1A2E45"/>
          </a:solidFill>
          <a:ln w="762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568" y="3264408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035040" y="311810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Breakdown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035040" y="341071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user group to identify which departments remain highest-risk.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5577840" y="3886200"/>
            <a:ext cx="3200400" cy="749808"/>
          </a:xfrm>
          <a:prstGeom prst="rect">
            <a:avLst/>
          </a:prstGeom>
          <a:solidFill>
            <a:srgbClr val="1A2E45"/>
          </a:solidFill>
          <a:ln w="762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7568" y="4087368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035040" y="394106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Export-Ready Data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6035040" y="423367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metrics stored in localStorage and available for download as JSON.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 Responsible Use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SafeBait operates responsibly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simulations are only ethical when conducted transparently and responsibly. SafeBait is designed with this as a first principle.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4023360" cy="896112"/>
          </a:xfrm>
          <a:prstGeom prst="rect">
            <a:avLst/>
          </a:prstGeom>
          <a:solidFill>
            <a:srgbClr val="1A2E45"/>
          </a:solidFill>
          <a:ln w="889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191109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85623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Consent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93776" y="2258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are informed beforehand that they may receive simulated phishing emails as part of a security awareness program.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09160" y="1783080"/>
            <a:ext cx="4023360" cy="896112"/>
          </a:xfrm>
          <a:prstGeom prst="rect">
            <a:avLst/>
          </a:prstGeom>
          <a:solidFill>
            <a:srgbClr val="1A2E45"/>
          </a:solidFill>
          <a:ln w="889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191109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185623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Harm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837176" y="2258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emails never contain real malware, credential harvesting, or any actual malicious payload.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65760" y="2807208"/>
            <a:ext cx="4023360" cy="896112"/>
          </a:xfrm>
          <a:prstGeom prst="rect">
            <a:avLst/>
          </a:prstGeom>
          <a:solidFill>
            <a:srgbClr val="1A2E45"/>
          </a:solidFill>
          <a:ln w="889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2935224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68680" y="288036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Purpose Only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93776" y="328269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exists solely to educate — results are never used punitively or to penalize employees.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709160" y="2807208"/>
            <a:ext cx="4023360" cy="896112"/>
          </a:xfrm>
          <a:prstGeom prst="rect">
            <a:avLst/>
          </a:prstGeom>
          <a:solidFill>
            <a:srgbClr val="1A2E45"/>
          </a:solidFill>
          <a:ln w="889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7176" y="2935224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212080" y="288036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Minimization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4837176" y="328269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campaign-relevant data is stored. No personal data beyond user ID and click timestamp is collected.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365760" y="3831336"/>
            <a:ext cx="4023360" cy="896112"/>
          </a:xfrm>
          <a:prstGeom prst="rect">
            <a:avLst/>
          </a:prstGeom>
          <a:solidFill>
            <a:srgbClr val="1A2E45"/>
          </a:solidFill>
          <a:ln w="889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" y="3959352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68680" y="390448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Debrief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493776" y="430682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simulation ends with full transparency: users are told what happened, why, and how to stay safe.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4709160" y="3831336"/>
            <a:ext cx="4023360" cy="896112"/>
          </a:xfrm>
          <a:prstGeom prst="rect">
            <a:avLst/>
          </a:prstGeom>
          <a:solidFill>
            <a:srgbClr val="1A2E45"/>
          </a:solidFill>
          <a:ln w="889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7176" y="3959352"/>
            <a:ext cx="292608" cy="29260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212080" y="390448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Context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4837176" y="430682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SafeBait is a university project — not a commercial tool. All usage is controlled and supervised.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71220"/>
          </a:solidFill>
          <a:ln/>
        </p:spPr>
      </p:sp>
      <p:sp>
        <p:nvSpPr>
          <p:cNvPr id="31" name="Text 23"/>
          <p:cNvSpPr/>
          <p:nvPr/>
        </p:nvSpPr>
        <p:spPr>
          <a:xfrm>
            <a:off x="457200" y="4892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is not an afterthought — it is built into every design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faced and how we solved 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886200" cy="804672"/>
          </a:xfrm>
          <a:prstGeom prst="rect">
            <a:avLst/>
          </a:prstGeom>
          <a:solidFill>
            <a:srgbClr val="1A2E45"/>
          </a:solidFill>
          <a:ln w="1016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5331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9536" y="11521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59536" y="142646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backend available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51960" y="1435608"/>
            <a:ext cx="365760" cy="12801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1097280"/>
            <a:ext cx="4160520" cy="804672"/>
          </a:xfrm>
          <a:prstGeom prst="rect">
            <a:avLst/>
          </a:prstGeom>
          <a:solidFill>
            <a:srgbClr val="1A2E45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5331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0640" y="11521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120640" y="1426464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localStorage-based architecture that mimics a database — persisting click events, campaign data, and quiz scores entirely on the client side.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65760" y="2029968"/>
            <a:ext cx="3886200" cy="804672"/>
          </a:xfrm>
          <a:prstGeom prst="rect">
            <a:avLst/>
          </a:prstGeom>
          <a:solidFill>
            <a:srgbClr val="1A2E45"/>
          </a:solidFill>
          <a:ln w="1016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8600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9536" y="20848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859536" y="235915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Coordinating across groups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251960" y="2368296"/>
            <a:ext cx="365760" cy="12801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Shape 14"/>
          <p:cNvSpPr/>
          <p:nvPr/>
        </p:nvSpPr>
        <p:spPr>
          <a:xfrm>
            <a:off x="4617720" y="2029968"/>
            <a:ext cx="4160520" cy="804672"/>
          </a:xfrm>
          <a:prstGeom prst="rect">
            <a:avLst/>
          </a:prstGeom>
          <a:solidFill>
            <a:srgbClr val="1A2E45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28600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20640" y="20848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5120640" y="2359152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a shared data schema early on. Each group's module reads/writes the same localStorage keys, enabling seamless integration without a central server.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365760" y="2962656"/>
            <a:ext cx="3886200" cy="804672"/>
          </a:xfrm>
          <a:prstGeom prst="rect">
            <a:avLst/>
          </a:prstGeom>
          <a:solidFill>
            <a:srgbClr val="1A2E45"/>
          </a:solidFill>
          <a:ln w="1016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218688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59536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859536" y="32918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education engaging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4251960" y="3300984"/>
            <a:ext cx="365760" cy="12801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8" name="Shape 21"/>
          <p:cNvSpPr/>
          <p:nvPr/>
        </p:nvSpPr>
        <p:spPr>
          <a:xfrm>
            <a:off x="4617720" y="2962656"/>
            <a:ext cx="4160520" cy="804672"/>
          </a:xfrm>
          <a:prstGeom prst="rect">
            <a:avLst/>
          </a:prstGeom>
          <a:solidFill>
            <a:srgbClr val="1A2E45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3218688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120640" y="3017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5120640" y="3291840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passive text walls with an interactive quiz and visual breakdown of the attack. Users who score poorly are prompted to retry — reinforcing learning.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365760" y="3895344"/>
            <a:ext cx="3886200" cy="804672"/>
          </a:xfrm>
          <a:prstGeom prst="rect">
            <a:avLst/>
          </a:prstGeom>
          <a:solidFill>
            <a:srgbClr val="1A2E45"/>
          </a:solidFill>
          <a:ln w="1016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151376"/>
            <a:ext cx="274320" cy="27432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59536" y="3950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</a:t>
            </a:r>
            <a:endParaRPr lang="en-US" sz="1000" dirty="0"/>
          </a:p>
        </p:txBody>
      </p:sp>
      <p:sp>
        <p:nvSpPr>
          <p:cNvPr id="35" name="Text 26"/>
          <p:cNvSpPr/>
          <p:nvPr/>
        </p:nvSpPr>
        <p:spPr>
          <a:xfrm>
            <a:off x="859536" y="4224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Cross-device &amp; browser compatibility</a:t>
            </a:r>
            <a:endParaRPr lang="en-US" sz="1200" dirty="0"/>
          </a:p>
        </p:txBody>
      </p:sp>
      <p:sp>
        <p:nvSpPr>
          <p:cNvPr id="36" name="Shape 27"/>
          <p:cNvSpPr/>
          <p:nvPr/>
        </p:nvSpPr>
        <p:spPr>
          <a:xfrm>
            <a:off x="4251960" y="4233672"/>
            <a:ext cx="365760" cy="12801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7" name="Shape 28"/>
          <p:cNvSpPr/>
          <p:nvPr/>
        </p:nvSpPr>
        <p:spPr>
          <a:xfrm>
            <a:off x="4617720" y="3895344"/>
            <a:ext cx="4160520" cy="804672"/>
          </a:xfrm>
          <a:prstGeom prst="rect">
            <a:avLst/>
          </a:prstGeom>
          <a:solidFill>
            <a:srgbClr val="1A2E45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4151376"/>
            <a:ext cx="274320" cy="27432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5120640" y="39502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000" dirty="0"/>
          </a:p>
        </p:txBody>
      </p:sp>
      <p:sp>
        <p:nvSpPr>
          <p:cNvPr id="40" name="Text 30"/>
          <p:cNvSpPr/>
          <p:nvPr/>
        </p:nvSpPr>
        <p:spPr>
          <a:xfrm>
            <a:off x="5120640" y="4224528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vanilla HTML/CSS/JS and zero dependencies. Tested across Chrome, Firefox, and Safari. No build step required.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457200"/>
            <a:ext cx="1737360" cy="1737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5029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SafeBait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clicks into knowledge.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4114800" cy="36576"/>
          </a:xfrm>
          <a:prstGeom prst="rect">
            <a:avLst/>
          </a:prstGeom>
          <a:solidFill>
            <a:srgbClr val="0096C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48840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214884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real phishing attacks in a safe, consent-based environment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24328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4400" y="262432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immediate, in-context education at the moment of failure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099816"/>
            <a:ext cx="256032" cy="25603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14400" y="309981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campaign performance through a localStorage-powered dashboard</a:t>
            </a:r>
            <a:endParaRPr lang="en-US" sz="13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575304"/>
            <a:ext cx="256032" cy="25603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14400" y="357530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as a frontend-only system — no server required</a:t>
            </a:r>
            <a:endParaRPr lang="en-US" sz="13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050792"/>
            <a:ext cx="256032" cy="25603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14400" y="40507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with ethics, usability, and behavioral change at its core</a:t>
            </a:r>
            <a:endParaRPr lang="en-US" sz="1300" dirty="0"/>
          </a:p>
        </p:txBody>
      </p:sp>
      <p:sp>
        <p:nvSpPr>
          <p:cNvPr id="17" name="Shape 9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8" name="Text 10"/>
          <p:cNvSpPr/>
          <p:nvPr/>
        </p:nvSpPr>
        <p:spPr>
          <a:xfrm>
            <a:off x="457200" y="4892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Questions?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SafeBait – Phishing Awareness Simulation System</dc:title>
  <dc:subject>PptxGenJS Presentation</dc:subject>
  <dc:creator>PptxGenJS</dc:creator>
  <cp:lastModifiedBy>PptxGenJS</cp:lastModifiedBy>
  <cp:revision>1</cp:revision>
  <dcterms:created xsi:type="dcterms:W3CDTF">2026-04-12T13:21:14Z</dcterms:created>
  <dcterms:modified xsi:type="dcterms:W3CDTF">2026-04-12T13:21:14Z</dcterms:modified>
</cp:coreProperties>
</file>